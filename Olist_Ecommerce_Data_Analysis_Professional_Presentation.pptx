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OLIST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9552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FFFFFF"/>
                </a:solidFill>
                <a:latin typeface="Aptos"/>
              </a:rPr>
              <a:t>تحليل بيانات التجارة الإلكترونية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ED2E1"/>
                </a:solidFill>
                <a:latin typeface="Aptos"/>
              </a:rPr>
              <a:t>Sales • Customers • Payments • Products • Delivery •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Aptos"/>
              </a:rPr>
              <a:t>مشروع تحليل بيانات متكامل باستخدام Power Query و Power BI و DAX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Aptos"/>
              </a:rPr>
              <a:t>Donia Khaled</a:t>
            </a:r>
            <a:br/>
            <a:r>
              <a:t>جامعة الزقازيق الأهلية</a:t>
            </a:r>
            <a:br/>
            <a:r>
              <a:t>قسم المعلوماتية الطبية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0"/>
            <a:ext cx="1005840" cy="685800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0"/>
            <a:ext cx="914400" cy="6858000"/>
          </a:xfrm>
          <a:prstGeom prst="rect">
            <a:avLst/>
          </a:prstGeom>
          <a:solidFill>
            <a:srgbClr val="3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نبذة عن Olist والـ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الفترة: 2016–2018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إجمالي الطلبات: 99,441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العملاء المميزون: 96,096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البائعون: 3,095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البيانات تشمل Customers, Orders, Items, Payments, Reviews, Products, Sellers.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المشكلة وأهداف التحليل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Business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تحليل أداء المبيعات عبر الزمن.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فهم سلوك العملاء وطرق الدفع والتقسيط.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تحليل المنتجات والفئات وأداء البائعين.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قياس الشحن والتوصيل والتأخير.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تحليل تقييمات العملاء والاختلافات الجغرافية.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تنظيف وتحويل 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Cleaning &amp;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فحص Null / Blank / Duplicates / Data Types / Dates / Numeric Values.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تصحيح القيم غير المنطقية في أسعار Order Items بعد التحقق.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تنظيف النصوص وEncoding وأسماء الفئات.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إضافة Purchase Date وPurchase Year/Month.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إضافة Delivery Status وDelivery 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Data Model والعلاقات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Power BI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Customers → Orders 1:*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Orders → Order Items 1:*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Orders → Payments 1:*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Orders → Reviews 1:*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Sellers → Order Items 1:*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Products → Order Items 1:*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Category Translation → Products 1:*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أهم مؤشرات الأداء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إجمالي المبيعات: 16,008,872.12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إجمالي الطلبات: 99,441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متوسط قيمة الطلب: 160.99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المنتجات المباعة: 112,650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العملاء: 96,096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متوسط التوصيل: 12.50 يوم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متوسط التقييم: 4.09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أداء المبيعات عبر الزمن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Sales Trend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نوفمبر 2017: ≈1.01M، بزيادة ≈52% عن أكتوبر.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ديسمبر 2017: انخفاض ≈26% بعد قمة نوفمبر.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يونيو 2018: انخفاض ≈13% مقارنة بمايو.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نهاية 2018 غير مكتملة؛ لا يصح اعتبار الانخفاض النهائي انهيارًا.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المبيعات حسب الفئة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Category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Health &amp; Beauty: 1,258,681.34 — الأعلى.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Watches &amp; Gifts: 1,205,005.68.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Bed Bath Table: 1,036,988.68.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ترتيب قيمة المبيعات يختلف عن ترتيب عدد القطع.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لا توجد بيانات تكلفة كافية للحكم على الربحية.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التوزيع الجغرافي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Geographic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São Paulo: 5,202,955.05 ≈38.28%.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Rio de Janeiro: 1,824,092.67.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Minas Gerais: 1,585,308.03.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التركيز الجغرافي واضح في SP ثم RJ وMG.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طرق الدفع والتقسيط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Payments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Credit Card: 12.54M ≈78.34%.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Boleto: 2.87M ≈17.92%.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متوسط الأقساط ≈2.85.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One-Time Payment ≈36.90% من قيمة المدفوعات.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Long Term ≈25.03%.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المنتجات المباعة وتكلفة الشحن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Products &amp; Freight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Bed Bath Table: 11,115 قطعة.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Health Beauty: 9,670.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Sports Leisure: 8,641.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أعلى متوسط Freight: Computers ≈48.45.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Home Appliances 2 ≈44.54.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أداء التوصيل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Delivery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On Time: 88,649 ≈89.15%.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Late: 7,827 ≈7.87%.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Not Delivered: 2,965 ≈2.98%.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Late + Not Delivered = 10.85%.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متوسط التوصيل: 19.65 يوم في 2016، 13.03 في 2017، 12.14 في 2018.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رضا العملاء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Customer Satisfaction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متوسط التقييم: 4.09 / 5.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5 نجوم: 57.78%.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4–5 نجوم: 77.07%.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1–2 نجمة: 14.69%.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التوصيل مقابل رضا العملاء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Delivery vs Satisfaction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On Time → متوسط تقييم 4.29.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Late → متوسط تقييم 2.57.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Not Delivered → متوسط تقييم 1.76.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البيانات تشير إلى ارتباط واضح بين حالة التوصيل والتقييم، وليس إثبات السببية.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أهم Business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Business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التأخير: 7.87%.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عدم التسليم: 2.98%.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انخفاض التقييم مع التأخير.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تركيز جغرافي مرتفع في SP.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ارتفاع Freight في فئات معينة.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تقلبات شهرية في المبيعات.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تفسير النتائج والسياق الخارجي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Interpretation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2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قمة نوفمبر 2017 تتوافق زمنيًا مع موسم Black Friday في السوق البرازيلي.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تراجع ديسمبر جاء بعد قمة نوفمبر.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انخفاض يونيو 2018 تزامن مع إضراب سائقي الشاحنات وتأثيره الموثق على التجارة الإلكترونية واللوجستيات.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انخفاض سبتمبر 2018 لا يمثل انهيارًا مؤكدًا لأن نهاية Dataset غير مكتملة.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التوصيات والحلول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Recommendations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Early Warning للطلبات المعرضة للتأخير.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متابعة أداء البائعين والناقلين.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تحليل أسباب ارتفاع Freight للفئات الأعلى.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رفع الجاهزية قبل مواسم الذروة.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تحسين تجربة الدفع والتقسيط.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دراسة الولايات الأقل حجمًا لاكتشاف فرص التوسع.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700" b="1">
                <a:solidFill>
                  <a:srgbClr val="122440"/>
                </a:solidFill>
                <a:latin typeface="Aptos"/>
              </a:rPr>
              <a:t>شرح الـ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97480"/>
                </a:solidFill>
                <a:latin typeface="Aptos"/>
              </a:rPr>
              <a:t>Dashboard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480560"/>
          </a:xfrm>
          <a:prstGeom prst="rect">
            <a:avLst/>
          </a:prstGeom>
          <a:solidFill>
            <a:srgbClr val="23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97480"/>
                </a:solidFill>
                <a:latin typeface="Aptos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122440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0"/>
                </a:solidFill>
                <a:latin typeface="Aptos"/>
              </a:rPr>
              <a:t>Olist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234440"/>
            <a:ext cx="79552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Sales Overview: المبيعات والفئات والجغرافيا.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Customers &amp; Payments: العملاء والدفع والتقسيط.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Products &amp; Sellers: المنتجات والبائعون وFreight.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Delivery &amp; Satisfaction: التوصيل والتقييمات.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الـDashboard مقسمة إلى 4 صفحات مع KPI Cards وCharts وSlicers وNavigation.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480"/>
                </a:solidFill>
                <a:latin typeface="Aptos"/>
              </a:rPr>
              <a:t>Olist E-Commerce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748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Aptos"/>
              </a:rPr>
              <a:t>الخلاصة التنفيذية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7899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تحويل بيانات Olist الخام إلى نموذج تحليلي منظم باستخدام Power Query وPower BI وDAX.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المبيعات أظهرت موسمية واضحة، مع قمة ملحوظة في نوفمبر 2017.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Credit Card يهيمن على قيمة المدفوعات، وSão Paulo أكبر تركّز جغرافي.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10.85% من الطلبات كانت Late أو Not Delivered.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يوجد فرق واضح في متوسط التقييم حسب حالة التوصيل.</a:t>
            </a:r>
          </a:p>
          <a:p>
            <a:pPr algn="r">
              <a:spcAft>
                <a:spcPts val="600"/>
              </a:spcAft>
            </a:pPr>
            <a:r>
              <a:rPr sz="1500">
                <a:solidFill>
                  <a:srgbClr val="222A34"/>
                </a:solidFill>
                <a:latin typeface="Aptos"/>
              </a:rPr>
              <a:t>• أهم فرص التحسين: موثوقية التوصيل، Freight، والاستعداد لفترات الذروة.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شكرًا لحسن الاستماع 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